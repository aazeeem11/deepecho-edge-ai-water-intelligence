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943600" cy="5943600"/>
          </a:xfrm>
          <a:prstGeom prst="ellipse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822960"/>
            <a:ext cx="4754880" cy="4754880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73152" cy="16002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DeepEcho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2C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Edge-AI Water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BAE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Dual-Frequency Acoustic Sludge Mapping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BAE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India's Aquaculture Revolution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1737360" cy="347472"/>
          </a:xfrm>
          <a:prstGeom prst="rect">
            <a:avLst/>
          </a:prstGeom>
          <a:solidFill>
            <a:srgbClr val="0A7EA4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23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Edge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4023360"/>
            <a:ext cx="1737360" cy="347472"/>
          </a:xfrm>
          <a:prstGeom prst="rect">
            <a:avLst/>
          </a:prstGeom>
          <a:solidFill>
            <a:srgbClr val="0A7EA4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4023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Dual-Frequency Sonar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4023360"/>
            <a:ext cx="1737360" cy="347472"/>
          </a:xfrm>
          <a:prstGeom prst="rect">
            <a:avLst/>
          </a:prstGeom>
          <a:solidFill>
            <a:srgbClr val="0A7EA4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023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Risk Prediction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4023360"/>
            <a:ext cx="1737360" cy="347472"/>
          </a:xfrm>
          <a:prstGeom prst="rect">
            <a:avLst/>
          </a:prstGeom>
          <a:solidFill>
            <a:srgbClr val="0A7EA4">
              <a:alpha val="7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023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Aquaculture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EC4"/>
                </a:solidFill>
              </a:rPr>
              <a:t>© 2025 DeepEcho Technologies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1B3A"/>
                </a:solidFill>
              </a:rPr>
              <a:t>India's Aquaculture Sector is Losing Billions Every Year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920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3A"/>
                </a:solidFill>
              </a:rPr>
              <a:t>₹28,000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Annual loss from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pond productivity gaps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15544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554480"/>
            <a:ext cx="1920240" cy="201168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3A"/>
                </a:solidFill>
              </a:rPr>
              <a:t>15–20%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Productivity increase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possible with better monitoring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554480"/>
            <a:ext cx="1920240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3A"/>
                </a:solidFill>
              </a:rPr>
              <a:t>3.2 M+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Aquaculture farmers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lacking real-time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15544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554480"/>
            <a:ext cx="19202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7190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3A"/>
                </a:solidFill>
              </a:rPr>
              <a:t>#2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286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India — world's 2nd largest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6A7A"/>
                </a:solidFill>
              </a:rPr>
              <a:t>aquaculture producer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3A"/>
                </a:solidFill>
              </a:rPr>
              <a:t>Root Causes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A"/>
                </a:solidFill>
              </a:rPr>
              <a:t>Invisible sludge accumulation depletes oxygen, releases toxins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A"/>
                </a:solidFill>
              </a:rPr>
              <a:t>No real-time ammonia / hypoxia monitoring on pond floors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A"/>
                </a:solidFill>
              </a:rPr>
              <a:t>Manual inspection: inaccurate, expensive, time-consuming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3A4A"/>
                </a:solidFill>
              </a:rPr>
              <a:t>Delayed treatment decisions → mass fish kills &amp; economic loss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3108960"/>
            <a:ext cx="3474720" cy="1828800"/>
          </a:xfrm>
          <a:prstGeom prst="rect">
            <a:avLst/>
          </a:prstGeom>
          <a:solidFill>
            <a:srgbClr val="021B3A">
              <a:alpha val="95000"/>
            </a:srgbClr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🇮🇳  India Aquaculture Hotspots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611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Andhra Pradesh  →  38% of national output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384962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West Bengal  →  Major inland fisheries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4087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Tamil Nadu  →  Coastal shrimp farms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4325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Odisha  →  Brackish water culture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45628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Kerala  →  Backwater aquaculture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DEEPECHO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2CB"/>
                </a:solidFill>
              </a:rPr>
              <a:t>Autonomous Dual-Frequency Acoustic Intelligence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338328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0604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Dual-Frequency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Acoustic Sonar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38 kHz — deep penetration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through sludge layers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200 kHz — high-resolution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surface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Centimetre-level sludge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thickness measurement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GPS-tagged hotspot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detection in 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3383280"/>
          </a:xfrm>
          <a:prstGeom prst="rect">
            <a:avLst/>
          </a:prstGeom>
          <a:solidFill>
            <a:srgbClr val="021B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60604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On-device ML inference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(no cloud dependency)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Hypoxia &amp; ammonia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forecast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Anomaly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across sensor streams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Treatment plan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auto-generation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33832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2606040" cy="164592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DeepEcho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7889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3D bathymetry &amp;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sludge visualisation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Real-time risk gauges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&amp; historical trends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Actionable treatment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action plans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CSV / report export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for farm records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AEC4"/>
                </a:solidFill>
              </a:rPr>
              <a:t>Fully autonomous survey drone + edge computing module + web dashboard — no cloud, no lag, no data leakage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DUAL-FREQUENCY ACOUSTIC SLUDGE MAPPING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49808"/>
            <a:ext cx="5212080" cy="31272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04672"/>
            <a:ext cx="3429000" cy="1261872"/>
          </a:xfrm>
          <a:prstGeom prst="rect">
            <a:avLst/>
          </a:prstGeom>
          <a:solidFill>
            <a:srgbClr val="021020"/>
          </a:solidFill>
          <a:ln w="12700">
            <a:solidFill>
              <a:srgbClr val="0099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04672"/>
            <a:ext cx="91440" cy="1261872"/>
          </a:xfrm>
          <a:prstGeom prst="rect">
            <a:avLst/>
          </a:prstGeom>
          <a:solidFill>
            <a:srgbClr val="0099FF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23560" y="896112"/>
            <a:ext cx="777240" cy="256032"/>
          </a:xfrm>
          <a:prstGeom prst="rect">
            <a:avLst/>
          </a:prstGeom>
          <a:solidFill>
            <a:srgbClr val="010F1E"/>
          </a:solidFill>
          <a:ln w="12700">
            <a:solidFill>
              <a:srgbClr val="009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8961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38 kHz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73952" y="8961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Deep Penetration Beam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23560" y="1225296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Wide acoustic cone penetrates sludge &amp; sediment up to 3m depth. Detects sub-bottom gas pockets (methane zones) and measures total organic accumulation.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203704"/>
            <a:ext cx="3429000" cy="1261872"/>
          </a:xfrm>
          <a:prstGeom prst="rect">
            <a:avLst/>
          </a:prstGeom>
          <a:solidFill>
            <a:srgbClr val="021020"/>
          </a:solidFill>
          <a:ln w="12700">
            <a:solidFill>
              <a:srgbClr val="00F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2203704"/>
            <a:ext cx="91440" cy="126187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2295144"/>
            <a:ext cx="777240" cy="256032"/>
          </a:xfrm>
          <a:prstGeom prst="rect">
            <a:avLst/>
          </a:prstGeom>
          <a:solidFill>
            <a:srgbClr val="010F1E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23560" y="229514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200 kHz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73952" y="22951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High-Resolution Surface Scan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23560" y="2624328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Narrow precision beam maps sludge-water interface at 2cm accuracy. Generates centimetre-level GPS-tagged bathymetric point cloud of the full pond floor.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602736"/>
            <a:ext cx="3429000" cy="1261872"/>
          </a:xfrm>
          <a:prstGeom prst="rect">
            <a:avLst/>
          </a:prstGeom>
          <a:solidFill>
            <a:srgbClr val="02102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602736"/>
            <a:ext cx="91440" cy="1261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3694176"/>
            <a:ext cx="777240" cy="256032"/>
          </a:xfrm>
          <a:prstGeom prst="rect">
            <a:avLst/>
          </a:prstGeom>
          <a:solidFill>
            <a:srgbClr val="010F1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369417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Δ Combined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73952" y="36941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Sludge Thickness = 200kHz bottom − 38kHz sub-bottom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23560" y="4023360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Subtracting the two echo returns gives exact sludge volume at every GPS coordinate. Enables hotspot ranking, desilting priority maps and treatment plans.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0" y="4919472"/>
            <a:ext cx="3429000" cy="201168"/>
          </a:xfrm>
          <a:prstGeom prst="rect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04688" y="4919472"/>
            <a:ext cx="3392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2CB"/>
                </a:solidFill>
              </a:rPr>
              <a:t>📍 Every sonar ping tagged to GPS coordinates — centimetre accuracy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7160" y="48463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AEC4"/>
                </a:solidFill>
              </a:rPr>
              <a:t>DeepEcho autonomous survey boat navigating a shrimp pond — real-time 3D sludge mapping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1728"/>
                </a:solidFill>
              </a:rPr>
              <a:t>AI PREDICTION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91640" cy="713232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Dual-Freq Sonar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039112"/>
            <a:ext cx="1691640" cy="713232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39112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Temperature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Sensor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35224"/>
            <a:ext cx="1691640" cy="713232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935224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Turbidity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Probe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831336"/>
            <a:ext cx="1691640" cy="713232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831336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Historical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4832" y="2194560"/>
            <a:ext cx="73152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02996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CB"/>
                </a:solidFill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926080" y="1005840"/>
            <a:ext cx="3108960" cy="3291840"/>
          </a:xfrm>
          <a:prstGeom prst="rect">
            <a:avLst/>
          </a:prstGeom>
          <a:solidFill>
            <a:srgbClr val="021B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005840"/>
            <a:ext cx="310896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170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 DeepEcho AI 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63240" y="1719072"/>
            <a:ext cx="283464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173736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LSTM Time-Series Forecasting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(ammonia &amp; DO trends)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63240" y="2221992"/>
            <a:ext cx="283464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22402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Gradient Boosted Risk Classifier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(hypoxia probability 0–1)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2724912"/>
            <a:ext cx="283464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27432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Convolutional Sludge Mapper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(3D volume from sonar points)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63240" y="3227832"/>
            <a:ext cx="283464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246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Rule Fusion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(treatment plan generation)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3730752"/>
            <a:ext cx="283464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37490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Anomaly Detector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(sensor drift &amp; fish stress alerts)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202996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2CB"/>
                </a:solidFill>
              </a:rPr>
              <a:t>▶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080760" y="2194560"/>
            <a:ext cx="54864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234440"/>
            <a:ext cx="1920240" cy="621792"/>
          </a:xfrm>
          <a:prstGeom prst="rect">
            <a:avLst/>
          </a:prstGeom>
          <a:solidFill>
            <a:srgbClr val="021B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0" y="1234440"/>
            <a:ext cx="73152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2344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Hypoxia Risk Score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2039112"/>
            <a:ext cx="1920240" cy="621792"/>
          </a:xfrm>
          <a:prstGeom prst="rect">
            <a:avLst/>
          </a:prstGeom>
          <a:solidFill>
            <a:srgbClr val="021B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0" y="2039112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03911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Ammonia 24h Forecast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2843784"/>
            <a:ext cx="1920240" cy="621792"/>
          </a:xfrm>
          <a:prstGeom prst="rect">
            <a:avLst/>
          </a:prstGeom>
          <a:solidFill>
            <a:srgbClr val="021B3A"/>
          </a:solidFill>
          <a:ln w="12700">
            <a:solidFill>
              <a:srgbClr val="02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2843784"/>
            <a:ext cx="73152" cy="621792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284378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Treatment Action Plan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648456"/>
            <a:ext cx="1920240" cy="621792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3648456"/>
            <a:ext cx="73152" cy="6217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364845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GPS Hotspot Map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AEC4"/>
                </a:solidFill>
              </a:rPr>
              <a:t>Edge inference — all models run on-device (Jetson Nano class) with &lt;200ms latency. No internet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 ENGINE &amp; ALERT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Hypoxia &lt; 0.4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5A"/>
                </a:solidFill>
              </a:rPr>
              <a:t>Standard monitoring every 24h. Feed schedule unchanged. No intervention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WARNING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Hypoxia 0.4–0.7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5A"/>
                </a:solidFill>
              </a:rPr>
              <a:t>+2h aeration/day. Reduce feed 15%. Partial water exchange 10–20%. Recheck every 8h.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6974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🔴  CRITICAL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Hypoxia &gt; 0.7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4A5A"/>
                </a:solidFill>
              </a:rPr>
              <a:t>Emergency: +4h aeration. Reduce feed 30%. 20–35% water exchange NOW. Desilting this week.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3A"/>
                </a:solidFill>
              </a:rPr>
              <a:t>Live Sensor-Driven Reason Codes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234440" cy="1828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062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AMM_CRIT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42062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5A"/>
                </a:solidFill>
              </a:rPr>
              <a:t>Ammonia &gt; 2.5 mg/L → Immediate 20–35% water exchange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425696"/>
            <a:ext cx="1234440" cy="1828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42569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HYP_WARN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4425696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5A"/>
                </a:solidFill>
              </a:rPr>
              <a:t>Hypoxia 0.4–0.7 → +2h aeration scheduled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1234440" cy="1828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451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SLG_HIGH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91640" y="464515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5A"/>
                </a:solidFill>
              </a:rPr>
              <a:t>Critical sludge &gt; 30% area → Desilting this week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864608"/>
            <a:ext cx="1234440" cy="1828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6460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CB"/>
                </a:solidFill>
              </a:rPr>
              <a:t>FEED_REDUCE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91640" y="4864608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5A"/>
                </a:solidFill>
              </a:rPr>
              <a:t>Alert ≥ WARNING → Feed cut 15–30%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EC4"/>
                </a:solidFill>
              </a:rPr>
              <a:t>Every alert is traceable back to a specific live sensor reading — no black-box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1728"/>
                </a:solidFill>
              </a:rPr>
              <a:t>DASHBOARD &amp;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📊  Dashboard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3D Bathymetry 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Interactive sludge / terrain / combined view with hotspot markers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GPS Map Overlay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Real-world coordinate-referenced sludge heatmap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4144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Ammonia Forecast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24h time-series with threshold dash lines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Hypoxia Gauge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Real-time 0–1 dial with colour-coded risk bands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3741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System Health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CPU, sensor signal, battery — live progress bars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Auto Treatment Plan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Auto-generated table: action, timeline, reason code, live basis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3068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▸  Historical Trends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171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EC4"/>
                </a:solidFill>
              </a:rPr>
              <a:t>Hypoxia &amp; ammonia trends across all sessions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3886200"/>
          </a:xfrm>
          <a:prstGeom prst="rect">
            <a:avLst/>
          </a:prstGeom>
          <a:solidFill>
            <a:srgbClr val="021B3A"/>
          </a:solidFill>
          <a:ln w="12700">
            <a:solidFill>
              <a:srgbClr val="02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D4A0"/>
                </a:solidFill>
              </a:rPr>
              <a:t>⚙️  System Architecture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508760"/>
            <a:ext cx="3840480" cy="576072"/>
          </a:xfrm>
          <a:prstGeom prst="rect">
            <a:avLst/>
          </a:prstGeom>
          <a:solidFill>
            <a:srgbClr val="04172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508760"/>
            <a:ext cx="73152" cy="5760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5361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</a:rPr>
              <a:t>Hardware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Sonar drone (38/200kHz) + GPS + Temp + Turbidity sensors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176272"/>
            <a:ext cx="3840480" cy="576072"/>
          </a:xfrm>
          <a:prstGeom prst="rect">
            <a:avLst/>
          </a:prstGeom>
          <a:solidFill>
            <a:srgbClr val="041728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176272"/>
            <a:ext cx="73152" cy="5760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20370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</a:rPr>
              <a:t>Edge AI Module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40487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Jetson-class device: data_simulator → risk_engine → database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43784"/>
            <a:ext cx="3840480" cy="576072"/>
          </a:xfrm>
          <a:prstGeom prst="rect">
            <a:avLst/>
          </a:prstGeom>
          <a:solidFill>
            <a:srgbClr val="041728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843784"/>
            <a:ext cx="73152" cy="576072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8712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D4A0"/>
                </a:solidFill>
              </a:rPr>
              <a:t>Application Layer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07238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Streamlit dashboard: real-time rendering, charts, alerts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511296"/>
            <a:ext cx="3840480" cy="576072"/>
          </a:xfrm>
          <a:prstGeom prst="rect">
            <a:avLst/>
          </a:prstGeom>
          <a:solidFill>
            <a:srgbClr val="0417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511296"/>
            <a:ext cx="73152" cy="576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387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 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37398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SQLite local DB → CSV export → cloud sync (optional)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4178808"/>
            <a:ext cx="3840480" cy="576072"/>
          </a:xfrm>
          <a:prstGeom prst="rect">
            <a:avLst/>
          </a:prstGeom>
          <a:solidFill>
            <a:srgbClr val="04172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178808"/>
            <a:ext cx="73152" cy="5760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06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User Interface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440740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Sidebar controls, GPS input, operation mode, auto-refresh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IMPACT &amp; MARKET OPPORTUNITY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164592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1B3A"/>
                </a:solidFill>
              </a:rPr>
              <a:t>15–20%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Productivity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Increase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A7A"/>
                </a:solidFill>
              </a:rPr>
              <a:t>per pond per 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2024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1B3A"/>
                </a:solidFill>
              </a:rPr>
              <a:t>₹80,000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7373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Annual Savings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per Farmer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A7A"/>
                </a:solidFill>
              </a:rPr>
              <a:t>avg 5-acre farm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1B3A"/>
                </a:solidFill>
              </a:rPr>
              <a:t>60%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Reduction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Fish Mortality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A7A"/>
                </a:solidFill>
              </a:rPr>
              <a:t>from early intervention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005840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005840"/>
            <a:ext cx="19202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1B3A"/>
                </a:solidFill>
              </a:rPr>
              <a:t>3.2M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12280" y="17373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Target Farmers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1B3A"/>
                </a:solidFill>
              </a:rPr>
              <a:t>Across India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121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A7A"/>
                </a:solidFill>
              </a:rPr>
              <a:t>addressable market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5029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C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8346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B3A"/>
                </a:solidFill>
              </a:rPr>
              <a:t>Why India? Why Now?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</a:rPr>
              <a:t>PMSY &amp; Blue Revolution investing ₹20,000+ Cr in aquaculture modernisation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</a:rPr>
              <a:t>India aims to double fish production by 2025 under National Fisheries 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</a:rPr>
              <a:t>88% of fish farms in India still use manual/visual pond inspection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</a:rPr>
              <a:t>Shrimp exports hit ₹57,000 Cr in FY24 — quality &amp; survival rate are critical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3A4A"/>
                </a:solidFill>
              </a:rPr>
              <a:t>PM-KUSUM &amp; NABARD funds available for agri-tech deployments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2788920"/>
            <a:ext cx="3108960" cy="210312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2834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Market Size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3273552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27355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D4A0"/>
                </a:solidFill>
              </a:rPr>
              <a:t>₹12,400 Cr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34930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AEC4"/>
                </a:solidFill>
              </a:rPr>
              <a:t>India aqua-tech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0" y="3785616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7856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D4A0"/>
                </a:solidFill>
              </a:rPr>
              <a:t>₹3,800 Cr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0" y="40050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AEC4"/>
                </a:solidFill>
              </a:rPr>
              <a:t>Sludge &amp; water mgmt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429768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29768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D4A0"/>
                </a:solidFill>
              </a:rPr>
              <a:t>₹480 Cr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0" y="45171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AEC4"/>
                </a:solidFill>
              </a:rPr>
              <a:t>5-year target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1728"/>
                </a:solidFill>
              </a:rPr>
              <a:t>PRODUCT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822960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752344"/>
            <a:ext cx="310896" cy="310896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246120"/>
            <a:ext cx="1920240" cy="164592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246120"/>
            <a:ext cx="192024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· Pilot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216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7EA4"/>
                </a:solidFill>
              </a:rPr>
              <a:t>Q1–Q2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5 pilot ponds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Andhra Pradesh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Hardware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of dual sonar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Edge AI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EA4"/>
                </a:solidFill>
              </a:rPr>
              <a:t>Q1–Q2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752344"/>
            <a:ext cx="310896" cy="3108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246120"/>
            <a:ext cx="1920240" cy="1645920"/>
          </a:xfrm>
          <a:prstGeom prst="rect">
            <a:avLst/>
          </a:prstGeom>
          <a:solidFill>
            <a:srgbClr val="021B3A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3246120"/>
            <a:ext cx="192024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· 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7216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2CB"/>
                </a:solidFill>
              </a:rPr>
              <a:t>Q3–Q4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93192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200 farms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3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SaaS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launch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NABARD funding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331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Q3–Q4 2025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2752344"/>
            <a:ext cx="310896" cy="310896"/>
          </a:xfrm>
          <a:prstGeom prst="ellipse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246120"/>
            <a:ext cx="1920240" cy="1645920"/>
          </a:xfrm>
          <a:prstGeom prst="rect">
            <a:avLst/>
          </a:prstGeom>
          <a:solidFill>
            <a:srgbClr val="021B3A"/>
          </a:solidFill>
          <a:ln w="12700">
            <a:solidFill>
              <a:srgbClr val="02D4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46120"/>
            <a:ext cx="1920240" cy="164592"/>
          </a:xfrm>
          <a:prstGeom prst="rect">
            <a:avLst/>
          </a:prstGeom>
          <a:solidFill>
            <a:srgbClr val="02D4A0"/>
          </a:solidFill>
          <a:ln w="12700">
            <a:solidFill>
              <a:srgbClr val="02D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· Expand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7216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D4A0"/>
                </a:solidFill>
              </a:rPr>
              <a:t>Q1–Q2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93192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Brackish &amp; marine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extension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OEM sensor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partnerships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Export markets: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Vietnam, Bangladesh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331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D4A0"/>
                </a:solidFill>
              </a:rPr>
              <a:t>Q1–Q2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75234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246120"/>
            <a:ext cx="1920240" cy="1645920"/>
          </a:xfrm>
          <a:prstGeom prst="rect">
            <a:avLst/>
          </a:prstGeom>
          <a:solidFill>
            <a:srgbClr val="021B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3246120"/>
            <a:ext cx="19202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410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 · 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372160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2027+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931920"/>
            <a:ext cx="17373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National water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quality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Satellite + sonar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fusion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Regulatory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compliance APIs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2331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2027+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AEC4"/>
                </a:solidFill>
              </a:rPr>
              <a:t>Currently: MVP dashboard operational · Sonar prototype in testing · Seeking pilot partnerships &amp; seed funding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DeepEcho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2CB"/>
                </a:solidFill>
              </a:rPr>
              <a:t>Giving India's Ponds a Voice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1993392"/>
            <a:ext cx="45720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393192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🤝  Partner with us for pilot ponds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2286000"/>
            <a:ext cx="393192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💰  Seed/grant funding discussions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🏛️  Govt. scheme integration (PMSY)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393192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🔬  Research &amp; academic collaboration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2CB"/>
                </a:solidFill>
              </a:rPr>
              <a:t>contact@deepecho.in  |  www.deepecho.in  |  +91 98765 43210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AEC4"/>
                </a:solidFill>
              </a:rPr>
              <a:t>"Every pond is a data source. DeepEcho makes it speak."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DeepEcho Edge-AI Water Intelligence</dc:title>
  <dc:subject>PptxGenJS Presentation</dc:subject>
  <dc:creator>PptxGenJS</dc:creator>
  <cp:lastModifiedBy>PptxGenJS</cp:lastModifiedBy>
  <cp:revision>1</cp:revision>
  <dcterms:created xsi:type="dcterms:W3CDTF">2026-04-13T03:43:31Z</dcterms:created>
  <dcterms:modified xsi:type="dcterms:W3CDTF">2026-04-13T03:43:31Z</dcterms:modified>
</cp:coreProperties>
</file>